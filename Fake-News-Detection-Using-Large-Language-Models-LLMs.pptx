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embeddedFontLst>
    <p:embeddedFont>
      <p:font typeface="Roboto" panose="02000000000000000000" pitchFamily="2" charset="0"/>
      <p:regular r:id="rId8"/>
      <p:bold r:id="rId9"/>
    </p:embeddedFont>
    <p:embeddedFont>
      <p:font typeface="Roboto Slab" pitchFamily="2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01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7531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72960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Fake News Detection Using Large Language Models (LLMs)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3945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by: Amey Medewar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85751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Roll No.:2022BIT153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47556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 the guidance of: Dr. Ankush Sawarkar</a:t>
            </a:r>
          </a:p>
        </p:txBody>
      </p:sp>
      <p:sp>
        <p:nvSpPr>
          <p:cNvPr id="7" name="Text 4"/>
          <p:cNvSpPr/>
          <p:nvPr/>
        </p:nvSpPr>
        <p:spPr>
          <a:xfrm>
            <a:off x="716437" y="6093619"/>
            <a:ext cx="7211506" cy="1074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 Paper </a:t>
            </a:r>
            <a:r>
              <a:rPr 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</a:t>
            </a:r>
            <a:r>
              <a:rPr lang="en-US" dirty="0"/>
              <a:t>Fraud-R1 : A Multi-Round Benchmark for Assessing the </a:t>
            </a:r>
          </a:p>
          <a:p>
            <a:pPr>
              <a:lnSpc>
                <a:spcPts val="2850"/>
              </a:lnSpc>
            </a:pPr>
            <a:r>
              <a:rPr lang="en-US" dirty="0"/>
              <a:t>Robustness of </a:t>
            </a:r>
            <a:r>
              <a:rPr lang="en-US" dirty="0" err="1"/>
              <a:t>LLMAgainst</a:t>
            </a:r>
            <a:r>
              <a:rPr lang="en-US" dirty="0"/>
              <a:t> Augmented Fraud and Phishing Inducements</a:t>
            </a:r>
            <a:endParaRPr lang="en-US" sz="2000" dirty="0"/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7ABC0B-E657-1A5B-F808-33CB47348A29}"/>
              </a:ext>
            </a:extLst>
          </p:cNvPr>
          <p:cNvSpPr/>
          <p:nvPr/>
        </p:nvSpPr>
        <p:spPr>
          <a:xfrm>
            <a:off x="793790" y="0"/>
            <a:ext cx="13836610" cy="44306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E11072-B962-68A3-81B0-EFDF39332B73}"/>
              </a:ext>
            </a:extLst>
          </p:cNvPr>
          <p:cNvSpPr/>
          <p:nvPr/>
        </p:nvSpPr>
        <p:spPr>
          <a:xfrm>
            <a:off x="0" y="7786540"/>
            <a:ext cx="14630400" cy="36290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Department of IT, SGGSIE&amp;T, Nanded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5BF82DD-6288-B4CF-2E0B-341E7C679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8801"/>
            <a:ext cx="1181100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97523" y="6660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24718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Problem: The Misuse of Fake News in the Digital Era </a:t>
            </a:r>
            <a:r>
              <a:rPr lang="en-US" sz="445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for Misguiding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3208973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today's interconnected world, misinformation spreads at an unprecedented rate, often outpacing verified information. This phenomenon, particularly rampant on social media platforms, poses significant threats: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64656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Rapid Dissemination: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Fake news travels faster than factual reporting, leading to widespread misinformed public opinion.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6032659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Real-World Consequences: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Misinformation has tangible, harmful impacts on critical societal aspects, including democratic elections, public health initiatives, and geopolitical conflicts.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208973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Vulnerability: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Most digital users lack immediate tools or the expertise to discern the veracity of online claims.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4376976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Scalability Issue: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Traditional manual fact-checking methods are inherently slow and incapable of keeping pace with the sheer volume of new content generated daily.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603265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Addressing this pervasive issue requires an innovative, scalable solution.</a:t>
            </a:r>
            <a:endParaRPr lang="en-US" sz="17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072760-B316-CF29-D18B-7D2B8E41D04F}"/>
              </a:ext>
            </a:extLst>
          </p:cNvPr>
          <p:cNvSpPr/>
          <p:nvPr/>
        </p:nvSpPr>
        <p:spPr>
          <a:xfrm>
            <a:off x="793790" y="0"/>
            <a:ext cx="13836610" cy="44306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69331A01-21BC-6450-1608-318D713A7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8801"/>
            <a:ext cx="1181100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F4DE050-C680-A6F5-EC29-5643BD08C95E}"/>
              </a:ext>
            </a:extLst>
          </p:cNvPr>
          <p:cNvSpPr/>
          <p:nvPr/>
        </p:nvSpPr>
        <p:spPr>
          <a:xfrm>
            <a:off x="0" y="7786540"/>
            <a:ext cx="14630400" cy="36290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Department of IT, SGGSIE&amp;T, Nanded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412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14023" y="534976"/>
            <a:ext cx="1915954" cy="125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36496" y="971327"/>
            <a:ext cx="8071009" cy="80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 Objective: A Robust Fake News Detection System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36496" y="2002036"/>
            <a:ext cx="8071009" cy="490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primary objective is to develop a comprehensive system leveraging the power of Large Language Models (LLMs) to combat the spread of fake news. This system aims to: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36496" y="2664738"/>
            <a:ext cx="8071009" cy="1173837"/>
          </a:xfrm>
          <a:prstGeom prst="roundRect">
            <a:avLst>
              <a:gd name="adj" fmla="val 1959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96" y="2664738"/>
            <a:ext cx="91440" cy="11738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4029" y="2840831"/>
            <a:ext cx="2964537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Intelligent Content Classification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04029" y="3172182"/>
            <a:ext cx="7627382" cy="490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Accurately detect and categorize news content as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real, fake, or unverifiable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based on linguistic patterns and contextual cues.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36496" y="3991808"/>
            <a:ext cx="8071009" cy="1173837"/>
          </a:xfrm>
          <a:prstGeom prst="roundRect">
            <a:avLst>
              <a:gd name="adj" fmla="val 1959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96" y="3991808"/>
            <a:ext cx="91440" cy="117383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4029" y="4167902"/>
            <a:ext cx="2112883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LLM-Powered Analysis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804029" y="4499253"/>
            <a:ext cx="7627382" cy="490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Utilize advanced LLMs, such as GPT-4, to scrutinize text for subtle indicators of bias, tone, and manipulative language.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36496" y="5318879"/>
            <a:ext cx="8071009" cy="1173837"/>
          </a:xfrm>
          <a:prstGeom prst="roundRect">
            <a:avLst>
              <a:gd name="adj" fmla="val 1959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96" y="5318879"/>
            <a:ext cx="91440" cy="117383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4029" y="5494972"/>
            <a:ext cx="2307431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Real-Time Fact-Checking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804029" y="5826323"/>
            <a:ext cx="7627382" cy="490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 live web search capabilities to perform instant verification of claims against credible, up-to-date sources.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536496" y="6645950"/>
            <a:ext cx="8071009" cy="1173837"/>
          </a:xfrm>
          <a:prstGeom prst="roundRect">
            <a:avLst>
              <a:gd name="adj" fmla="val 1959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96" y="6645950"/>
            <a:ext cx="91440" cy="117383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04029" y="6822043"/>
            <a:ext cx="1915954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Transparent Output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804029" y="7153394"/>
            <a:ext cx="7627382" cy="490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 clear, concise results complete with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confidence scores, detailed explanations, and verifiable source links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user transparency.</a:t>
            </a:r>
            <a:endParaRPr lang="en-US" sz="12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DD963E-A644-5FB0-C9C4-5252A5FC9CFA}"/>
              </a:ext>
            </a:extLst>
          </p:cNvPr>
          <p:cNvSpPr/>
          <p:nvPr/>
        </p:nvSpPr>
        <p:spPr>
          <a:xfrm>
            <a:off x="793790" y="0"/>
            <a:ext cx="13836610" cy="44306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3" name="Picture 4">
            <a:extLst>
              <a:ext uri="{FF2B5EF4-FFF2-40B4-BE49-F238E27FC236}">
                <a16:creationId xmlns:a16="http://schemas.microsoft.com/office/drawing/2014/main" id="{AB7691A0-203D-BAA3-9D65-F0985CE31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8801"/>
            <a:ext cx="1181100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6D310109-F316-FEB1-25DE-4EACA7833A4A}"/>
              </a:ext>
            </a:extLst>
          </p:cNvPr>
          <p:cNvSpPr/>
          <p:nvPr/>
        </p:nvSpPr>
        <p:spPr>
          <a:xfrm>
            <a:off x="0" y="7786540"/>
            <a:ext cx="14630400" cy="36290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Department of IT, SGGSIE&amp;T, Nanded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97523" y="7467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Blueprint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327904"/>
            <a:ext cx="107906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Proposed System Architecture Overview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237684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system is designed with modularity and efficiency in mind, processing information through distinct stages to ensure accuracy and transparency.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8397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Core Components: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420910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 Language Models (LLMs):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Central to our system, LLMs conduct deep linguistic analysis, identify nuanced patterns in text, and detect potential biases or rhetorical manipulation.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951815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Search API / SerpAPI Integration: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Essential for real-time fact verification, these APIs enable the system to query external knowledge bases and reliable sources to confirm or refute claims.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817025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 Scoring Engine: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This component synthesizes data from LLM analysis and web search to assign a confidence score to each piece of news.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985028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 User Interface (UI):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final presentation layer, providing users with the classification (real, fake, unverifiable), a clear explanation of the decision, and direct links to supporting or refuting evidence.</a:t>
            </a:r>
            <a:endParaRPr lang="en-US" sz="17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BC0615-C6E0-68F5-134F-AD3C73868ABC}"/>
              </a:ext>
            </a:extLst>
          </p:cNvPr>
          <p:cNvSpPr/>
          <p:nvPr/>
        </p:nvSpPr>
        <p:spPr>
          <a:xfrm>
            <a:off x="793790" y="0"/>
            <a:ext cx="13836610" cy="44306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B3D0FAF0-3496-28DB-4C99-672351AF68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8801"/>
            <a:ext cx="1181100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76B5884-02F9-2BAD-090F-6C2AA86138FF}"/>
              </a:ext>
            </a:extLst>
          </p:cNvPr>
          <p:cNvSpPr/>
          <p:nvPr/>
        </p:nvSpPr>
        <p:spPr>
          <a:xfrm>
            <a:off x="0" y="7786540"/>
            <a:ext cx="14630400" cy="36290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Department of IT, SGGSIE&amp;T, Nanded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0170" y="526971"/>
            <a:ext cx="2389942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Our Stack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9131" y="1016675"/>
            <a:ext cx="5739527" cy="597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Tools &amp; Technologies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669131" y="1900833"/>
            <a:ext cx="13292137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will leverage a robust set of modern tools and technologies to ensure scalability, performance, and ease of development.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31" y="2421731"/>
            <a:ext cx="573524" cy="5735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9131" y="3234214"/>
            <a:ext cx="2799874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LLM API: OpenAI GPT-4o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69131" y="3647480"/>
            <a:ext cx="4271367" cy="1223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Utilizing the cutting-edge capabilities of OpenAI's GPT-4o for advanced natural language understanding and generation, crucial for nuanced fake news detection.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9457" y="2421731"/>
            <a:ext cx="573524" cy="5735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79457" y="3234214"/>
            <a:ext cx="4271367" cy="59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Search API: SerpAPI / Google Search API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5179457" y="3946088"/>
            <a:ext cx="4271367" cy="917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real-time fact-checking and external data validation, integrating with powerful search APIs to access vast repositories of online information.</a:t>
            </a:r>
            <a:endParaRPr lang="en-US" sz="15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9783" y="2421731"/>
            <a:ext cx="573524" cy="57352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89783" y="3234214"/>
            <a:ext cx="3847505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Backend: Python (FastAPI / Flask)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9689783" y="3647480"/>
            <a:ext cx="4271367" cy="1223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Python, combined with high-performance frameworks like FastAPI or Flask, will power the backend logic, handling API requests and data processing efficiently.</a:t>
            </a:r>
            <a:endParaRPr lang="en-US" sz="15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131" y="5253276"/>
            <a:ext cx="573524" cy="57352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9131" y="6065758"/>
            <a:ext cx="3028712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Frontend: Streamlit / React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669131" y="6479024"/>
            <a:ext cx="4271367" cy="1223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Developing an intuitive and responsive user interface using either Streamlit for rapid prototyping or React for a more scalable and dynamic web application.</a:t>
            </a:r>
            <a:endParaRPr lang="en-US" sz="15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9457" y="5253276"/>
            <a:ext cx="573524" cy="57352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179457" y="6065758"/>
            <a:ext cx="2954893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Optional: SQLite / Firebase</a:t>
            </a:r>
            <a:endParaRPr lang="en-US" sz="1850" dirty="0"/>
          </a:p>
        </p:txBody>
      </p:sp>
      <p:sp>
        <p:nvSpPr>
          <p:cNvPr id="19" name="Text 12"/>
          <p:cNvSpPr/>
          <p:nvPr/>
        </p:nvSpPr>
        <p:spPr>
          <a:xfrm>
            <a:off x="5179457" y="6479024"/>
            <a:ext cx="4271367" cy="1223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Considering SQLite for local data storage or Firebase for cloud-based, scalable data management to persist analysis results and user interactions.</a:t>
            </a:r>
            <a:endParaRPr lang="en-US" sz="15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FE84BF-6EF8-BAD8-E6BC-BCFA71BF4688}"/>
              </a:ext>
            </a:extLst>
          </p:cNvPr>
          <p:cNvSpPr/>
          <p:nvPr/>
        </p:nvSpPr>
        <p:spPr>
          <a:xfrm>
            <a:off x="793790" y="0"/>
            <a:ext cx="13836610" cy="44306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1" name="Picture 4">
            <a:extLst>
              <a:ext uri="{FF2B5EF4-FFF2-40B4-BE49-F238E27FC236}">
                <a16:creationId xmlns:a16="http://schemas.microsoft.com/office/drawing/2014/main" id="{76B0C283-C1E9-86BD-FA33-2A1C8B6B5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8801"/>
            <a:ext cx="1181100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FB8D4C2C-7397-0302-59F2-F3942B3D0A91}"/>
              </a:ext>
            </a:extLst>
          </p:cNvPr>
          <p:cNvSpPr/>
          <p:nvPr/>
        </p:nvSpPr>
        <p:spPr>
          <a:xfrm>
            <a:off x="0" y="7786540"/>
            <a:ext cx="14630400" cy="36290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Department of IT, SGGSIE&amp;T, Nanded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710</Words>
  <Application>Microsoft Office PowerPoint</Application>
  <PresentationFormat>Custom</PresentationFormat>
  <Paragraphs>56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Roboto</vt:lpstr>
      <vt:lpstr>Arial</vt:lpstr>
      <vt:lpstr>Roboto Slab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amey medewar</cp:lastModifiedBy>
  <cp:revision>4</cp:revision>
  <dcterms:created xsi:type="dcterms:W3CDTF">2025-08-29T03:46:06Z</dcterms:created>
  <dcterms:modified xsi:type="dcterms:W3CDTF">2025-08-30T06:04:40Z</dcterms:modified>
</cp:coreProperties>
</file>